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RQND Pro UltraWide" charset="1" panose="00000500000000000000"/>
      <p:regular r:id="rId17"/>
    </p:embeddedFont>
    <p:embeddedFont>
      <p:font typeface="Open Sauce Bold" charset="1" panose="00000800000000000000"/>
      <p:regular r:id="rId18"/>
    </p:embeddedFont>
    <p:embeddedFont>
      <p:font typeface="Open Sauce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jpeg" Type="http://schemas.openxmlformats.org/officeDocument/2006/relationships/image"/><Relationship Id="rId7" Target="../media/image2.png" Type="http://schemas.openxmlformats.org/officeDocument/2006/relationships/image"/><Relationship Id="rId8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1033">
                <a:alpha val="100000"/>
              </a:srgbClr>
            </a:gs>
            <a:gs pos="100000">
              <a:srgbClr val="14399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74871" y="5935437"/>
            <a:ext cx="12538258" cy="642740"/>
            <a:chOff x="0" y="0"/>
            <a:chExt cx="3127802" cy="1603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27802" cy="160338"/>
            </a:xfrm>
            <a:custGeom>
              <a:avLst/>
              <a:gdLst/>
              <a:ahLst/>
              <a:cxnLst/>
              <a:rect r="r" b="b" t="t" l="l"/>
              <a:pathLst>
                <a:path h="160338" w="3127802">
                  <a:moveTo>
                    <a:pt x="0" y="0"/>
                  </a:moveTo>
                  <a:lnTo>
                    <a:pt x="3127802" y="0"/>
                  </a:lnTo>
                  <a:lnTo>
                    <a:pt x="3127802" y="160338"/>
                  </a:lnTo>
                  <a:lnTo>
                    <a:pt x="0" y="1603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FFFFFF">
                  <a:alpha val="80000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127802" cy="1889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71755" y="7162255"/>
            <a:ext cx="18631511" cy="4192090"/>
          </a:xfrm>
          <a:custGeom>
            <a:avLst/>
            <a:gdLst/>
            <a:ahLst/>
            <a:cxnLst/>
            <a:rect r="r" b="b" t="t" l="l"/>
            <a:pathLst>
              <a:path h="4192090" w="18631511">
                <a:moveTo>
                  <a:pt x="0" y="0"/>
                </a:moveTo>
                <a:lnTo>
                  <a:pt x="18631510" y="0"/>
                </a:lnTo>
                <a:lnTo>
                  <a:pt x="18631510" y="4192090"/>
                </a:lnTo>
                <a:lnTo>
                  <a:pt x="0" y="41920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961028" y="8892355"/>
            <a:ext cx="365945" cy="365945"/>
          </a:xfrm>
          <a:custGeom>
            <a:avLst/>
            <a:gdLst/>
            <a:ahLst/>
            <a:cxnLst/>
            <a:rect r="r" b="b" t="t" l="l"/>
            <a:pathLst>
              <a:path h="365945" w="365945">
                <a:moveTo>
                  <a:pt x="0" y="0"/>
                </a:moveTo>
                <a:lnTo>
                  <a:pt x="365944" y="0"/>
                </a:lnTo>
                <a:lnTo>
                  <a:pt x="365944" y="365945"/>
                </a:lnTo>
                <a:lnTo>
                  <a:pt x="0" y="3659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4977264"/>
            <a:ext cx="332473" cy="332473"/>
          </a:xfrm>
          <a:custGeom>
            <a:avLst/>
            <a:gdLst/>
            <a:ahLst/>
            <a:cxnLst/>
            <a:rect r="r" b="b" t="t" l="l"/>
            <a:pathLst>
              <a:path h="332473" w="332473">
                <a:moveTo>
                  <a:pt x="0" y="0"/>
                </a:moveTo>
                <a:lnTo>
                  <a:pt x="332473" y="0"/>
                </a:lnTo>
                <a:lnTo>
                  <a:pt x="332473" y="332472"/>
                </a:lnTo>
                <a:lnTo>
                  <a:pt x="0" y="3324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6926827" y="4977264"/>
            <a:ext cx="332473" cy="332473"/>
          </a:xfrm>
          <a:custGeom>
            <a:avLst/>
            <a:gdLst/>
            <a:ahLst/>
            <a:cxnLst/>
            <a:rect r="r" b="b" t="t" l="l"/>
            <a:pathLst>
              <a:path h="332473" w="332473">
                <a:moveTo>
                  <a:pt x="332473" y="0"/>
                </a:moveTo>
                <a:lnTo>
                  <a:pt x="0" y="0"/>
                </a:lnTo>
                <a:lnTo>
                  <a:pt x="0" y="332472"/>
                </a:lnTo>
                <a:lnTo>
                  <a:pt x="332473" y="332472"/>
                </a:lnTo>
                <a:lnTo>
                  <a:pt x="332473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17044231" y="1028700"/>
            <a:ext cx="215069" cy="166972"/>
          </a:xfrm>
          <a:custGeom>
            <a:avLst/>
            <a:gdLst/>
            <a:ahLst/>
            <a:cxnLst/>
            <a:rect r="r" b="b" t="t" l="l"/>
            <a:pathLst>
              <a:path h="166972" w="215069">
                <a:moveTo>
                  <a:pt x="0" y="0"/>
                </a:moveTo>
                <a:lnTo>
                  <a:pt x="215069" y="0"/>
                </a:lnTo>
                <a:lnTo>
                  <a:pt x="215069" y="166972"/>
                </a:lnTo>
                <a:lnTo>
                  <a:pt x="0" y="1669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094760" y="2571578"/>
            <a:ext cx="15057006" cy="339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01"/>
              </a:lnSpc>
            </a:pPr>
            <a:r>
              <a:rPr lang="en-US" sz="8970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BLOCKCHAIN-BASED SMART CONTRACT </a:t>
            </a:r>
          </a:p>
          <a:p>
            <a:pPr algn="ctr">
              <a:lnSpc>
                <a:spcPts val="8701"/>
              </a:lnSpc>
            </a:pPr>
            <a:r>
              <a:rPr lang="en-US" sz="8970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IN E-LIBRARY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523301" y="7220286"/>
            <a:ext cx="12889828" cy="3066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722"/>
              </a:lnSpc>
            </a:pPr>
            <a:r>
              <a:rPr lang="en-US" sz="3715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MABEL LE</a:t>
            </a:r>
          </a:p>
          <a:p>
            <a:pPr algn="just">
              <a:lnSpc>
                <a:spcPts val="5722"/>
              </a:lnSpc>
            </a:pPr>
            <a:r>
              <a:rPr lang="en-US" sz="3715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THIEN MAI DO</a:t>
            </a:r>
          </a:p>
          <a:p>
            <a:pPr algn="just">
              <a:lnSpc>
                <a:spcPts val="5722"/>
              </a:lnSpc>
            </a:pPr>
            <a:r>
              <a:rPr lang="en-US" sz="3715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TIEN THANH DO</a:t>
            </a:r>
          </a:p>
          <a:p>
            <a:pPr algn="ctr">
              <a:lnSpc>
                <a:spcPts val="7078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true" flipV="false" rot="-10800000">
            <a:off x="1028700" y="1028700"/>
            <a:ext cx="215069" cy="166972"/>
          </a:xfrm>
          <a:custGeom>
            <a:avLst/>
            <a:gdLst/>
            <a:ahLst/>
            <a:cxnLst/>
            <a:rect r="r" b="b" t="t" l="l"/>
            <a:pathLst>
              <a:path h="166972" w="215069">
                <a:moveTo>
                  <a:pt x="215069" y="0"/>
                </a:moveTo>
                <a:lnTo>
                  <a:pt x="0" y="0"/>
                </a:lnTo>
                <a:lnTo>
                  <a:pt x="0" y="166972"/>
                </a:lnTo>
                <a:lnTo>
                  <a:pt x="215069" y="166972"/>
                </a:lnTo>
                <a:lnTo>
                  <a:pt x="215069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1033">
                <a:alpha val="100000"/>
              </a:srgbClr>
            </a:gs>
            <a:gs pos="100000">
              <a:srgbClr val="14399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8892355"/>
            <a:ext cx="365945" cy="365945"/>
          </a:xfrm>
          <a:custGeom>
            <a:avLst/>
            <a:gdLst/>
            <a:ahLst/>
            <a:cxnLst/>
            <a:rect r="r" b="b" t="t" l="l"/>
            <a:pathLst>
              <a:path h="365945" w="365945">
                <a:moveTo>
                  <a:pt x="0" y="0"/>
                </a:moveTo>
                <a:lnTo>
                  <a:pt x="365945" y="0"/>
                </a:lnTo>
                <a:lnTo>
                  <a:pt x="365945" y="365945"/>
                </a:lnTo>
                <a:lnTo>
                  <a:pt x="0" y="3659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7044231" y="1028700"/>
            <a:ext cx="215069" cy="166972"/>
          </a:xfrm>
          <a:custGeom>
            <a:avLst/>
            <a:gdLst/>
            <a:ahLst/>
            <a:cxnLst/>
            <a:rect r="r" b="b" t="t" l="l"/>
            <a:pathLst>
              <a:path h="166972" w="215069">
                <a:moveTo>
                  <a:pt x="0" y="0"/>
                </a:moveTo>
                <a:lnTo>
                  <a:pt x="215069" y="0"/>
                </a:lnTo>
                <a:lnTo>
                  <a:pt x="215069" y="166972"/>
                </a:lnTo>
                <a:lnTo>
                  <a:pt x="0" y="1669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77339" y="1129904"/>
            <a:ext cx="13014919" cy="1936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80"/>
              </a:lnSpc>
            </a:pPr>
            <a:r>
              <a:rPr lang="en-US" sz="9972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CURRENT DATA GOVERNANCE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02675" y="3709683"/>
            <a:ext cx="6507459" cy="507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4"/>
              </a:lnSpc>
              <a:spcBef>
                <a:spcPct val="0"/>
              </a:spcBef>
            </a:pPr>
            <a:r>
              <a:rPr lang="en-US" b="true" sz="297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Digital Transformation of Libraries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94645" y="4859736"/>
            <a:ext cx="10095996" cy="3549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2672" indent="-221336" lvl="1">
              <a:lnSpc>
                <a:spcPts val="4059"/>
              </a:lnSpc>
              <a:buFont typeface="Arial"/>
              <a:buChar char="•"/>
            </a:pPr>
            <a:r>
              <a:rPr lang="en-US" sz="205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Libraries are shifting from traditional to digital operational models.</a:t>
            </a:r>
          </a:p>
          <a:p>
            <a:pPr algn="l" marL="442672" indent="-221336" lvl="1">
              <a:lnSpc>
                <a:spcPts val="4059"/>
              </a:lnSpc>
              <a:buFont typeface="Arial"/>
              <a:buChar char="•"/>
            </a:pPr>
            <a:r>
              <a:rPr lang="en-US" sz="205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Advanced technologies like AI and ML are being explored and implemented.</a:t>
            </a:r>
          </a:p>
          <a:p>
            <a:pPr algn="l" marL="442672" indent="-221336" lvl="1">
              <a:lnSpc>
                <a:spcPts val="4059"/>
              </a:lnSpc>
              <a:buFont typeface="Arial"/>
              <a:buChar char="•"/>
            </a:pPr>
            <a:r>
              <a:rPr lang="en-US" sz="205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Most libraries still rely on centralized data management systems for consistency, maintenance, and security </a:t>
            </a:r>
          </a:p>
          <a:p>
            <a:pPr algn="l" marL="442672" indent="-221336" lvl="1">
              <a:lnSpc>
                <a:spcPts val="4059"/>
              </a:lnSpc>
              <a:buFont typeface="Arial"/>
              <a:buChar char="•"/>
            </a:pPr>
            <a:r>
              <a:rPr lang="en-US" sz="205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Popular management software (e.g., Koha, LibraryWorld) assists operations but faces limitations, especially in transaction and payment processing </a:t>
            </a:r>
          </a:p>
          <a:p>
            <a:pPr algn="l">
              <a:lnSpc>
                <a:spcPts val="4059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2125555" y="3942304"/>
            <a:ext cx="5537042" cy="6344696"/>
            <a:chOff x="0" y="0"/>
            <a:chExt cx="7382722" cy="8459594"/>
          </a:xfrm>
        </p:grpSpPr>
        <p:pic>
          <p:nvPicPr>
            <p:cNvPr name="Picture 8" id="8"/>
            <p:cNvPicPr>
              <a:picLocks noChangeAspect="true"/>
            </p:cNvPicPr>
            <p:nvPr/>
          </p:nvPicPr>
          <p:blipFill>
            <a:blip r:embed="rId6"/>
            <a:srcRect l="0" t="21886" r="0" b="1770"/>
            <a:stretch>
              <a:fillRect/>
            </a:stretch>
          </p:blipFill>
          <p:spPr>
            <a:xfrm flipH="false" flipV="false">
              <a:off x="0" y="0"/>
              <a:ext cx="7382722" cy="845959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11033">
                <a:alpha val="100000"/>
              </a:srgbClr>
            </a:gs>
            <a:gs pos="100000">
              <a:srgbClr val="14399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18600"/>
            <a:ext cx="14277591" cy="185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9600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CURRENT DATA GOVERNANCE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465057" y="3485366"/>
            <a:ext cx="4183825" cy="4976239"/>
            <a:chOff x="0" y="0"/>
            <a:chExt cx="5578433" cy="663498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38100"/>
              <a:ext cx="5578433" cy="449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53"/>
                </a:lnSpc>
                <a:spcBef>
                  <a:spcPct val="0"/>
                </a:spcBef>
              </a:pPr>
              <a:r>
                <a:rPr lang="en-US" b="true" sz="2038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Traceability in Data Governance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912619"/>
              <a:ext cx="5367051" cy="57223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18" indent="-194309" lvl="1">
                <a:lnSpc>
                  <a:spcPts val="3167"/>
                </a:lnSpc>
                <a:buFont typeface="Arial"/>
                <a:buChar char="•"/>
              </a:pPr>
              <a:r>
                <a:rPr lang="en-US" sz="1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Enables tracking of data sources, collection methods, and modifications </a:t>
              </a:r>
            </a:p>
            <a:p>
              <a:pPr algn="l" marL="388618" indent="-194309" lvl="1">
                <a:lnSpc>
                  <a:spcPts val="3167"/>
                </a:lnSpc>
                <a:buFont typeface="Arial"/>
                <a:buChar char="•"/>
              </a:pPr>
              <a:r>
                <a:rPr lang="en-US" sz="1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Ensures all changes are accurately documented and verifiable.</a:t>
              </a:r>
            </a:p>
            <a:p>
              <a:pPr algn="l" marL="388618" indent="-194309" lvl="1">
                <a:lnSpc>
                  <a:spcPts val="3167"/>
                </a:lnSpc>
                <a:buFont typeface="Arial"/>
                <a:buChar char="•"/>
              </a:pPr>
              <a:r>
                <a:rPr lang="en-US" sz="1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Real-time insights allow administrators to detect inconsistencies or unauthorized alterations promptly.</a:t>
              </a:r>
            </a:p>
            <a:p>
              <a:pPr algn="l">
                <a:lnSpc>
                  <a:spcPts val="233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508631" y="3485366"/>
            <a:ext cx="4183825" cy="4976239"/>
            <a:chOff x="0" y="0"/>
            <a:chExt cx="5578433" cy="6634985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38100"/>
              <a:ext cx="5578433" cy="449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53"/>
                </a:lnSpc>
                <a:spcBef>
                  <a:spcPct val="0"/>
                </a:spcBef>
              </a:pPr>
              <a:r>
                <a:rPr lang="en-US" b="true" sz="2038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Data Privacy Concerns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912619"/>
              <a:ext cx="5367051" cy="57223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18" indent="-194309" lvl="1">
                <a:lnSpc>
                  <a:spcPts val="3167"/>
                </a:lnSpc>
                <a:buFont typeface="Arial"/>
                <a:buChar char="•"/>
              </a:pPr>
              <a:r>
                <a:rPr lang="en-US" sz="1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Protecting data privacy is essential for secure, authorized access.</a:t>
              </a:r>
            </a:p>
            <a:p>
              <a:pPr algn="l" marL="388618" indent="-194309" lvl="1">
                <a:lnSpc>
                  <a:spcPts val="3167"/>
                </a:lnSpc>
                <a:buFont typeface="Arial"/>
                <a:buChar char="•"/>
              </a:pPr>
              <a:r>
                <a:rPr lang="en-US" sz="1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Vulnerable to automated bot attacks that</a:t>
              </a:r>
              <a:r>
                <a:rPr lang="en-US" sz="1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may manipulate accounts or cause data breaches</a:t>
              </a:r>
            </a:p>
            <a:p>
              <a:pPr algn="l" marL="388618" indent="-194309" lvl="1">
                <a:lnSpc>
                  <a:spcPts val="3167"/>
                </a:lnSpc>
                <a:buFont typeface="Arial"/>
                <a:buChar char="•"/>
              </a:pPr>
              <a:r>
                <a:rPr lang="en-US" sz="1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Bots can expose sensitive information, cause credential stuffing, or trigger DoS attacks </a:t>
              </a:r>
            </a:p>
            <a:p>
              <a:pPr algn="l">
                <a:lnSpc>
                  <a:spcPts val="233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327789" y="3485366"/>
            <a:ext cx="5495154" cy="4976239"/>
            <a:chOff x="0" y="0"/>
            <a:chExt cx="7326872" cy="6634985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38100"/>
              <a:ext cx="7326872" cy="449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53"/>
                </a:lnSpc>
                <a:spcBef>
                  <a:spcPct val="0"/>
                </a:spcBef>
              </a:pPr>
              <a:r>
                <a:rPr lang="en-US" b="true" sz="2038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Transparency and Royalty Payment Issues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738430" y="912619"/>
              <a:ext cx="6227821" cy="57223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18" indent="-194309" lvl="1">
                <a:lnSpc>
                  <a:spcPts val="3167"/>
                </a:lnSpc>
                <a:buFont typeface="Arial"/>
                <a:buChar char="•"/>
              </a:pPr>
              <a:r>
                <a:rPr lang="en-US" sz="1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Most e-book libraries and platforms use centralized management controlled by publishers or intermedia</a:t>
              </a:r>
              <a:r>
                <a:rPr lang="en-US" sz="1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ries </a:t>
              </a:r>
            </a:p>
            <a:p>
              <a:pPr algn="l" marL="388618" indent="-194309" lvl="1">
                <a:lnSpc>
                  <a:spcPts val="3167"/>
                </a:lnSpc>
                <a:buFont typeface="Arial"/>
                <a:buChar char="•"/>
              </a:pPr>
              <a:r>
                <a:rPr lang="en-US" sz="1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Authors cannot directly verify readings, downloads, or revenue calculations.</a:t>
              </a:r>
            </a:p>
            <a:p>
              <a:pPr algn="l" marL="388618" indent="-194309" lvl="1">
                <a:lnSpc>
                  <a:spcPts val="3167"/>
                </a:lnSpc>
                <a:buFont typeface="Arial"/>
                <a:buChar char="•"/>
              </a:pPr>
              <a:r>
                <a:rPr lang="en-US" sz="1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</a:t>
              </a:r>
              <a:r>
                <a:rPr lang="en-US" sz="1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ack of independent auditing allows data alteration or deletion, weakening trust, accountability, and data integrity.</a:t>
              </a:r>
            </a:p>
            <a:p>
              <a:pPr algn="l">
                <a:lnSpc>
                  <a:spcPts val="233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1033">
                <a:alpha val="100000"/>
              </a:srgbClr>
            </a:gs>
            <a:gs pos="100000">
              <a:srgbClr val="14399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83487" y="-122886"/>
            <a:ext cx="5904513" cy="4277818"/>
            <a:chOff x="0" y="0"/>
            <a:chExt cx="7872684" cy="5703757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8039" t="0" r="0" b="0"/>
            <a:stretch>
              <a:fillRect/>
            </a:stretch>
          </p:blipFill>
          <p:spPr>
            <a:xfrm flipH="false" flipV="false">
              <a:off x="0" y="0"/>
              <a:ext cx="7872684" cy="5703757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682480" y="3434020"/>
            <a:ext cx="426818" cy="81442"/>
            <a:chOff x="0" y="0"/>
            <a:chExt cx="112413" cy="214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2413" cy="21450"/>
            </a:xfrm>
            <a:custGeom>
              <a:avLst/>
              <a:gdLst/>
              <a:ahLst/>
              <a:cxnLst/>
              <a:rect r="r" b="b" t="t" l="l"/>
              <a:pathLst>
                <a:path h="21450" w="112413">
                  <a:moveTo>
                    <a:pt x="0" y="0"/>
                  </a:moveTo>
                  <a:lnTo>
                    <a:pt x="112413" y="0"/>
                  </a:lnTo>
                  <a:lnTo>
                    <a:pt x="112413" y="21450"/>
                  </a:lnTo>
                  <a:lnTo>
                    <a:pt x="0" y="2145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12413" cy="50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585031" y="409575"/>
            <a:ext cx="11046281" cy="3158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4"/>
              </a:lnSpc>
            </a:pPr>
            <a:r>
              <a:rPr lang="en-US" sz="8563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CHALLENGES IN THE CURRENT SYSTEM</a:t>
            </a:r>
          </a:p>
          <a:p>
            <a:pPr algn="l">
              <a:lnSpc>
                <a:spcPts val="5994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585031" y="3921462"/>
            <a:ext cx="4929849" cy="5336838"/>
            <a:chOff x="0" y="0"/>
            <a:chExt cx="6573133" cy="7115783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38100"/>
              <a:ext cx="6573133" cy="930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53"/>
                </a:lnSpc>
                <a:spcBef>
                  <a:spcPct val="0"/>
                </a:spcBef>
              </a:pPr>
              <a:r>
                <a:rPr lang="en-US" b="true" sz="2038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Centralized Payment Systems in Libraries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393417"/>
              <a:ext cx="6324058" cy="57223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18" indent="-194309" lvl="1">
                <a:lnSpc>
                  <a:spcPts val="3167"/>
                </a:lnSpc>
                <a:buFont typeface="Arial"/>
                <a:buChar char="•"/>
              </a:pPr>
              <a:r>
                <a:rPr lang="en-US" sz="1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Traditional royalty payments rely on intermediaries (e.g., banks), causing delays and limited author participation.</a:t>
              </a:r>
            </a:p>
            <a:p>
              <a:pPr algn="l" marL="388618" indent="-194309" lvl="1">
                <a:lnSpc>
                  <a:spcPts val="3167"/>
                </a:lnSpc>
                <a:buFont typeface="Arial"/>
                <a:buChar char="•"/>
              </a:pPr>
              <a:r>
                <a:rPr lang="en-US" sz="1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</a:t>
              </a:r>
              <a:r>
                <a:rPr lang="en-US" sz="1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nternal accounting systems struggle to verify revenue per book; authors cannot independently confirm downloads or payments.</a:t>
              </a:r>
            </a:p>
            <a:p>
              <a:pPr algn="l" marL="388618" indent="-194309" lvl="1">
                <a:lnSpc>
                  <a:spcPts val="3167"/>
                </a:lnSpc>
                <a:buFont typeface="Arial"/>
                <a:buChar char="•"/>
              </a:pPr>
              <a:r>
                <a:rPr lang="en-US" sz="1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</a:t>
              </a:r>
              <a:r>
                <a:rPr lang="en-US" sz="1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ecentralized payment systems are proposed to enhance transparency and stakeholder autonomy </a:t>
              </a:r>
            </a:p>
            <a:p>
              <a:pPr algn="l">
                <a:lnSpc>
                  <a:spcPts val="23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250879" y="3882011"/>
            <a:ext cx="5380433" cy="5376289"/>
            <a:chOff x="0" y="0"/>
            <a:chExt cx="7173911" cy="7168385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38100"/>
              <a:ext cx="7173911" cy="449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53"/>
                </a:lnSpc>
                <a:spcBef>
                  <a:spcPct val="0"/>
                </a:spcBef>
              </a:pPr>
              <a:r>
                <a:rPr lang="en-US" b="true" sz="2038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Limitations in Traceability and Auditing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912619"/>
              <a:ext cx="6902071" cy="62557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18" indent="-194309" lvl="1">
                <a:lnSpc>
                  <a:spcPts val="3167"/>
                </a:lnSpc>
                <a:buFont typeface="Arial"/>
                <a:buChar char="•"/>
              </a:pPr>
              <a:r>
                <a:rPr lang="en-US" sz="1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Traditional royalty payments rely on Traditional auditing depends on centralized databases and manual reconciliation</a:t>
              </a:r>
            </a:p>
            <a:p>
              <a:pPr algn="l" marL="388618" indent="-194309" lvl="1">
                <a:lnSpc>
                  <a:spcPts val="3167"/>
                </a:lnSpc>
                <a:buFont typeface="Arial"/>
                <a:buChar char="•"/>
              </a:pPr>
              <a:r>
                <a:rPr lang="en-US" sz="1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Ce</a:t>
              </a:r>
              <a:r>
                <a:rPr lang="en-US" sz="1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ntralized logs are vulnerable to tampering, compromising audit integrity.</a:t>
              </a:r>
            </a:p>
            <a:p>
              <a:pPr algn="l" marL="388618" indent="-194309" lvl="1">
                <a:lnSpc>
                  <a:spcPts val="3167"/>
                </a:lnSpc>
                <a:buFont typeface="Arial"/>
                <a:buChar char="•"/>
              </a:pPr>
              <a:r>
                <a:rPr lang="en-US" sz="1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Lack of real-time visibility prevents continuous monitoring and immediate anomaly detection.</a:t>
              </a:r>
            </a:p>
            <a:p>
              <a:pPr algn="l" marL="388618" indent="-194309" lvl="1">
                <a:lnSpc>
                  <a:spcPts val="3167"/>
                </a:lnSpc>
                <a:buFont typeface="Arial"/>
                <a:buChar char="•"/>
              </a:pPr>
              <a:r>
                <a:rPr lang="en-US" sz="1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Compliance with evolving regulations (PCI DSS, GDPR, ISO 27001) remains challenging.</a:t>
              </a:r>
            </a:p>
            <a:p>
              <a:pPr algn="l">
                <a:lnSpc>
                  <a:spcPts val="233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486653" y="5143500"/>
            <a:ext cx="4929849" cy="3376039"/>
            <a:chOff x="0" y="0"/>
            <a:chExt cx="6573133" cy="4501385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38100"/>
              <a:ext cx="6573133" cy="449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53"/>
                </a:lnSpc>
                <a:spcBef>
                  <a:spcPct val="0"/>
                </a:spcBef>
              </a:pPr>
              <a:r>
                <a:rPr lang="en-US" b="true" sz="2038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Security Risks in Centralized Systems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912619"/>
              <a:ext cx="6324058" cy="35887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18" indent="-194309" lvl="1">
                <a:lnSpc>
                  <a:spcPts val="3167"/>
                </a:lnSpc>
                <a:buFont typeface="Arial"/>
                <a:buChar char="•"/>
              </a:pPr>
              <a:r>
                <a:rPr lang="en-US" sz="1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Single points of failure increase vulnerability to cyberattacks, such as bot penetration.</a:t>
              </a:r>
            </a:p>
            <a:p>
              <a:pPr algn="l" marL="388618" indent="-194309" lvl="1">
                <a:lnSpc>
                  <a:spcPts val="3167"/>
                </a:lnSpc>
                <a:buFont typeface="Arial"/>
                <a:buChar char="•"/>
              </a:pPr>
              <a:r>
                <a:rPr lang="en-US" sz="1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Se</a:t>
              </a:r>
              <a:r>
                <a:rPr lang="en-US" sz="1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nsitive data, including internal operations and user information, can be exposed or lost</a:t>
              </a:r>
            </a:p>
            <a:p>
              <a:pPr algn="l">
                <a:lnSpc>
                  <a:spcPts val="2339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1033">
                <a:alpha val="100000"/>
              </a:srgbClr>
            </a:gs>
            <a:gs pos="100000">
              <a:srgbClr val="14399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8070" y="340306"/>
            <a:ext cx="17859930" cy="2475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04"/>
              </a:lnSpc>
            </a:pPr>
            <a:r>
              <a:rPr lang="en-US" sz="9600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PROPOSED BLOCKCHAIN-BASED SOLUTION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504668" y="3870936"/>
            <a:ext cx="7629030" cy="427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5"/>
              </a:lnSpc>
              <a:spcBef>
                <a:spcPct val="0"/>
              </a:spcBef>
            </a:pPr>
            <a:r>
              <a:rPr lang="en-US" b="true" sz="256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1.Overview of the Proposed Solution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340820" y="4553625"/>
            <a:ext cx="9714285" cy="3973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7568" indent="-198784" lvl="1">
              <a:lnSpc>
                <a:spcPts val="3995"/>
              </a:lnSpc>
              <a:buFont typeface="Arial"/>
              <a:buChar char="•"/>
            </a:pPr>
            <a:r>
              <a:rPr lang="en-US" sz="184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Introduces a </a:t>
            </a:r>
            <a:r>
              <a:rPr lang="en-US" b="true" sz="184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permissioned blockchain system</a:t>
            </a:r>
            <a:r>
              <a:rPr lang="en-US" sz="184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for the entire e-library framework.</a:t>
            </a:r>
          </a:p>
          <a:p>
            <a:pPr algn="l" marL="397568" indent="-198784" lvl="1">
              <a:lnSpc>
                <a:spcPts val="3995"/>
              </a:lnSpc>
              <a:buFont typeface="Arial"/>
              <a:buChar char="•"/>
            </a:pPr>
            <a:r>
              <a:rPr lang="en-US" b="true" sz="184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Validating nodes</a:t>
            </a:r>
            <a:r>
              <a:rPr lang="en-US" sz="184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: authors, publishers, and libraries verify all transactions </a:t>
            </a:r>
          </a:p>
          <a:p>
            <a:pPr algn="l" marL="397568" indent="-198784" lvl="1">
              <a:lnSpc>
                <a:spcPts val="3995"/>
              </a:lnSpc>
              <a:buFont typeface="Arial"/>
              <a:buChar char="•"/>
            </a:pPr>
            <a:r>
              <a:rPr lang="en-US" sz="184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Ensures </a:t>
            </a:r>
            <a:r>
              <a:rPr lang="en-US" b="true" sz="184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data int</a:t>
            </a:r>
            <a:r>
              <a:rPr lang="en-US" b="true" sz="184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egrity, </a:t>
            </a:r>
            <a:r>
              <a:rPr lang="en-US" b="true" sz="184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traceability, privacy, and accountabilit</a:t>
            </a:r>
            <a:r>
              <a:rPr lang="en-US" sz="184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y.</a:t>
            </a:r>
          </a:p>
          <a:p>
            <a:pPr algn="l" marL="397568" indent="-198784" lvl="1">
              <a:lnSpc>
                <a:spcPts val="3995"/>
              </a:lnSpc>
              <a:buFont typeface="Arial"/>
              <a:buChar char="•"/>
            </a:pPr>
            <a:r>
              <a:rPr lang="en-US" b="true" sz="184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Smart contracts</a:t>
            </a:r>
            <a:r>
              <a:rPr lang="en-US" sz="184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automate revenue distribution and transaction verification.</a:t>
            </a:r>
          </a:p>
          <a:p>
            <a:pPr algn="l" marL="397568" indent="-198784" lvl="1">
              <a:lnSpc>
                <a:spcPts val="3995"/>
              </a:lnSpc>
              <a:buFont typeface="Arial"/>
              <a:buChar char="•"/>
            </a:pPr>
            <a:r>
              <a:rPr lang="en-US" sz="184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Uses </a:t>
            </a:r>
            <a:r>
              <a:rPr lang="en-US" b="true" sz="184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IPFS</a:t>
            </a:r>
            <a:r>
              <a:rPr lang="en-US" sz="184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for decentralized data storage to prevent system failures </a:t>
            </a:r>
          </a:p>
          <a:p>
            <a:pPr algn="l" marL="397568" indent="-198784" lvl="1">
              <a:lnSpc>
                <a:spcPts val="3995"/>
              </a:lnSpc>
              <a:buFont typeface="Arial"/>
              <a:buChar char="•"/>
            </a:pPr>
            <a:r>
              <a:rPr lang="en-US" sz="184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Maintains </a:t>
            </a:r>
            <a:r>
              <a:rPr lang="en-US" b="true" sz="184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permanent record</a:t>
            </a:r>
            <a:r>
              <a:rPr lang="en-US" sz="184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 of book registration and purchases for ownership verification and transparent financial tracking.</a:t>
            </a:r>
          </a:p>
          <a:p>
            <a:pPr algn="l">
              <a:lnSpc>
                <a:spcPts val="3995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0" y="4591474"/>
            <a:ext cx="6080045" cy="5695526"/>
            <a:chOff x="0" y="0"/>
            <a:chExt cx="8106727" cy="7594035"/>
          </a:xfrm>
        </p:grpSpPr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/>
            <a:srcRect l="14416" t="0" r="14416" b="0"/>
            <a:stretch>
              <a:fillRect/>
            </a:stretch>
          </p:blipFill>
          <p:spPr>
            <a:xfrm flipH="false" flipV="false">
              <a:off x="0" y="0"/>
              <a:ext cx="8106727" cy="759403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1033">
                <a:alpha val="100000"/>
              </a:srgbClr>
            </a:gs>
            <a:gs pos="100000">
              <a:srgbClr val="14399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70282" y="5945737"/>
            <a:ext cx="2540563" cy="1025464"/>
          </a:xfrm>
          <a:custGeom>
            <a:avLst/>
            <a:gdLst/>
            <a:ahLst/>
            <a:cxnLst/>
            <a:rect r="r" b="b" t="t" l="l"/>
            <a:pathLst>
              <a:path h="1025464" w="2540563">
                <a:moveTo>
                  <a:pt x="0" y="0"/>
                </a:moveTo>
                <a:lnTo>
                  <a:pt x="2540564" y="0"/>
                </a:lnTo>
                <a:lnTo>
                  <a:pt x="2540564" y="1025464"/>
                </a:lnTo>
                <a:lnTo>
                  <a:pt x="0" y="10254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7044231" y="1028700"/>
            <a:ext cx="215069" cy="166972"/>
          </a:xfrm>
          <a:custGeom>
            <a:avLst/>
            <a:gdLst/>
            <a:ahLst/>
            <a:cxnLst/>
            <a:rect r="r" b="b" t="t" l="l"/>
            <a:pathLst>
              <a:path h="166972" w="215069">
                <a:moveTo>
                  <a:pt x="0" y="0"/>
                </a:moveTo>
                <a:lnTo>
                  <a:pt x="215069" y="0"/>
                </a:lnTo>
                <a:lnTo>
                  <a:pt x="215069" y="166972"/>
                </a:lnTo>
                <a:lnTo>
                  <a:pt x="0" y="1669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10800000">
            <a:off x="7043585" y="8034419"/>
            <a:ext cx="215069" cy="166972"/>
          </a:xfrm>
          <a:custGeom>
            <a:avLst/>
            <a:gdLst/>
            <a:ahLst/>
            <a:cxnLst/>
            <a:rect r="r" b="b" t="t" l="l"/>
            <a:pathLst>
              <a:path h="166972" w="215069">
                <a:moveTo>
                  <a:pt x="215069" y="166972"/>
                </a:moveTo>
                <a:lnTo>
                  <a:pt x="0" y="166972"/>
                </a:lnTo>
                <a:lnTo>
                  <a:pt x="0" y="0"/>
                </a:lnTo>
                <a:lnTo>
                  <a:pt x="215069" y="0"/>
                </a:lnTo>
                <a:lnTo>
                  <a:pt x="215069" y="16697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92922" y="933800"/>
            <a:ext cx="7279784" cy="1496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18"/>
              </a:lnSpc>
            </a:pPr>
            <a:r>
              <a:rPr lang="en-US" sz="7741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BLOCKCHAIN SOLUTION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67254" y="1074086"/>
            <a:ext cx="7629030" cy="427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5"/>
              </a:lnSpc>
              <a:spcBef>
                <a:spcPct val="0"/>
              </a:spcBef>
            </a:pPr>
            <a:r>
              <a:rPr lang="en-US" b="true" sz="256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2. Proposed Model / 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67254" y="1522845"/>
            <a:ext cx="10636452" cy="231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0"/>
              </a:lnSpc>
            </a:pPr>
            <a:r>
              <a:rPr lang="en-US" sz="2576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Three-layer system:</a:t>
            </a:r>
          </a:p>
          <a:p>
            <a:pPr algn="l" marL="435308" indent="-217654" lvl="1">
              <a:lnSpc>
                <a:spcPts val="4375"/>
              </a:lnSpc>
              <a:buFont typeface="Arial"/>
              <a:buChar char="•"/>
            </a:pPr>
            <a:r>
              <a:rPr lang="en-US" sz="201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User Interaction Layer</a:t>
            </a:r>
          </a:p>
          <a:p>
            <a:pPr algn="l" marL="435308" indent="-217654" lvl="1">
              <a:lnSpc>
                <a:spcPts val="4375"/>
              </a:lnSpc>
              <a:buFont typeface="Arial"/>
              <a:buChar char="•"/>
            </a:pPr>
            <a:r>
              <a:rPr lang="en-US" sz="201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Blockchain Governance Layer</a:t>
            </a:r>
          </a:p>
          <a:p>
            <a:pPr algn="l" marL="435308" indent="-217654" lvl="1">
              <a:lnSpc>
                <a:spcPts val="4375"/>
              </a:lnSpc>
              <a:buFont typeface="Arial"/>
              <a:buChar char="•"/>
            </a:pPr>
            <a:r>
              <a:rPr lang="en-US" sz="201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01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ata Storage Layer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19995" y="4505425"/>
            <a:ext cx="7629030" cy="427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5"/>
              </a:lnSpc>
              <a:spcBef>
                <a:spcPct val="0"/>
              </a:spcBef>
            </a:pPr>
            <a:r>
              <a:rPr lang="en-US" b="true" sz="256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3. Smart Contract-Based Payment Automation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572706" y="4999215"/>
            <a:ext cx="9998865" cy="4576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9214" indent="-204607" lvl="1">
              <a:lnSpc>
                <a:spcPts val="4112"/>
              </a:lnSpc>
              <a:buFont typeface="Arial"/>
              <a:buChar char="•"/>
            </a:pPr>
            <a:r>
              <a:rPr lang="en-US" b="true" sz="1895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Solidity smart contracts</a:t>
            </a:r>
            <a:r>
              <a:rPr lang="en-US" sz="189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replace traditional banking systems.</a:t>
            </a:r>
          </a:p>
          <a:p>
            <a:pPr algn="l" marL="409214" indent="-204607" lvl="1">
              <a:lnSpc>
                <a:spcPts val="4112"/>
              </a:lnSpc>
              <a:buFont typeface="Arial"/>
              <a:buChar char="•"/>
            </a:pPr>
            <a:r>
              <a:rPr lang="en-US" sz="189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Trigger automatically when readers purchase digital documents.</a:t>
            </a:r>
          </a:p>
          <a:p>
            <a:pPr algn="l" marL="409214" indent="-204607" lvl="1">
              <a:lnSpc>
                <a:spcPts val="4112"/>
              </a:lnSpc>
              <a:buFont typeface="Arial"/>
              <a:buChar char="•"/>
            </a:pPr>
            <a:r>
              <a:rPr lang="en-US" sz="189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Handles payment v</a:t>
            </a:r>
            <a:r>
              <a:rPr lang="en-US" sz="189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erifi</a:t>
            </a:r>
            <a:r>
              <a:rPr lang="en-US" sz="189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cation and </a:t>
            </a:r>
            <a:r>
              <a:rPr lang="en-US" b="true" sz="1895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automatic revenue distribution</a:t>
            </a:r>
            <a:r>
              <a:rPr lang="en-US" sz="189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:</a:t>
            </a:r>
          </a:p>
          <a:p>
            <a:pPr algn="l" marL="409214" indent="-204607" lvl="1">
              <a:lnSpc>
                <a:spcPts val="4112"/>
              </a:lnSpc>
              <a:buAutoNum type="arabicPeriod" startAt="1"/>
            </a:pPr>
            <a:r>
              <a:rPr lang="en-US" sz="189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80% → Author</a:t>
            </a:r>
          </a:p>
          <a:p>
            <a:pPr algn="l" marL="409214" indent="-204607" lvl="1">
              <a:lnSpc>
                <a:spcPts val="4112"/>
              </a:lnSpc>
              <a:buAutoNum type="arabicPeriod" startAt="1"/>
            </a:pPr>
            <a:r>
              <a:rPr lang="en-US" sz="189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15% → Publisher</a:t>
            </a:r>
          </a:p>
          <a:p>
            <a:pPr algn="l" marL="409214" indent="-204607" lvl="1">
              <a:lnSpc>
                <a:spcPts val="4112"/>
              </a:lnSpc>
              <a:buAutoNum type="arabicPeriod" startAt="1"/>
            </a:pPr>
            <a:r>
              <a:rPr lang="en-US" sz="189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5% → Library</a:t>
            </a:r>
          </a:p>
          <a:p>
            <a:pPr algn="l" marL="409214" indent="-204607" lvl="1">
              <a:lnSpc>
                <a:spcPts val="4112"/>
              </a:lnSpc>
              <a:buFont typeface="Arial"/>
              <a:buChar char="•"/>
            </a:pPr>
            <a:r>
              <a:rPr lang="en-US" sz="189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Maintain</a:t>
            </a:r>
            <a:r>
              <a:rPr lang="en-US" sz="189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 i</a:t>
            </a:r>
            <a:r>
              <a:rPr lang="en-US" b="true" sz="1895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mmu</a:t>
            </a:r>
            <a:r>
              <a:rPr lang="en-US" b="true" sz="1895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table transaction records </a:t>
            </a:r>
            <a:r>
              <a:rPr lang="en-US" sz="189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visible through blockchain explorers.</a:t>
            </a:r>
          </a:p>
          <a:p>
            <a:pPr algn="l" marL="409214" indent="-204607" lvl="1">
              <a:lnSpc>
                <a:spcPts val="4112"/>
              </a:lnSpc>
              <a:buFont typeface="Arial"/>
              <a:buChar char="•"/>
            </a:pPr>
            <a:r>
              <a:rPr lang="en-US" sz="189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Elim</a:t>
            </a:r>
            <a:r>
              <a:rPr lang="en-US" sz="189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inates middlemen, reduces disputes, and provides </a:t>
            </a:r>
            <a:r>
              <a:rPr lang="en-US" b="true" sz="1895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real-time revenue tracking</a:t>
            </a:r>
          </a:p>
          <a:p>
            <a:pPr algn="l">
              <a:lnSpc>
                <a:spcPts val="4112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944568" y="2913604"/>
            <a:ext cx="5537042" cy="6344696"/>
            <a:chOff x="0" y="0"/>
            <a:chExt cx="7382722" cy="8459594"/>
          </a:xfrm>
        </p:grpSpPr>
        <p:pic>
          <p:nvPicPr>
            <p:cNvPr name="Picture 11" id="11"/>
            <p:cNvPicPr>
              <a:picLocks noChangeAspect="true"/>
            </p:cNvPicPr>
            <p:nvPr/>
          </p:nvPicPr>
          <p:blipFill>
            <a:blip r:embed="rId6"/>
            <a:srcRect l="0" t="21886" r="0" b="1770"/>
            <a:stretch>
              <a:fillRect/>
            </a:stretch>
          </p:blipFill>
          <p:spPr>
            <a:xfrm flipH="false" flipV="false">
              <a:off x="0" y="0"/>
              <a:ext cx="7382722" cy="845959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1033">
                <a:alpha val="100000"/>
              </a:srgbClr>
            </a:gs>
            <a:gs pos="100000">
              <a:srgbClr val="14399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339357"/>
            <a:ext cx="4337746" cy="5918943"/>
            <a:chOff x="0" y="0"/>
            <a:chExt cx="5783662" cy="7891924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5549" t="0" r="25549" b="0"/>
            <a:stretch>
              <a:fillRect/>
            </a:stretch>
          </p:blipFill>
          <p:spPr>
            <a:xfrm flipH="false" flipV="false">
              <a:off x="0" y="0"/>
              <a:ext cx="5783662" cy="7891924"/>
            </a:xfrm>
            <a:prstGeom prst="rect">
              <a:avLst/>
            </a:prstGeom>
          </p:spPr>
        </p:pic>
      </p:grpSp>
      <p:sp>
        <p:nvSpPr>
          <p:cNvPr name="Freeform 4" id="4"/>
          <p:cNvSpPr/>
          <p:nvPr/>
        </p:nvSpPr>
        <p:spPr>
          <a:xfrm flipH="false" flipV="false" rot="0">
            <a:off x="4852280" y="2825191"/>
            <a:ext cx="1028332" cy="1028332"/>
          </a:xfrm>
          <a:custGeom>
            <a:avLst/>
            <a:gdLst/>
            <a:ahLst/>
            <a:cxnLst/>
            <a:rect r="r" b="b" t="t" l="l"/>
            <a:pathLst>
              <a:path h="1028332" w="1028332">
                <a:moveTo>
                  <a:pt x="0" y="0"/>
                </a:moveTo>
                <a:lnTo>
                  <a:pt x="1028332" y="0"/>
                </a:lnTo>
                <a:lnTo>
                  <a:pt x="1028332" y="1028332"/>
                </a:lnTo>
                <a:lnTo>
                  <a:pt x="0" y="10283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67795" y="691591"/>
            <a:ext cx="9027940" cy="185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9600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BLOCKCHAIN SOLUTION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07307" y="2912241"/>
            <a:ext cx="7629030" cy="427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5"/>
              </a:lnSpc>
              <a:spcBef>
                <a:spcPct val="0"/>
              </a:spcBef>
            </a:pPr>
            <a:r>
              <a:rPr lang="en-US" b="true" sz="256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4. Data Traceability and Audit Mechanism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88355" y="3452708"/>
            <a:ext cx="10870945" cy="1954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6606" indent="-198303" lvl="1">
              <a:lnSpc>
                <a:spcPts val="3986"/>
              </a:lnSpc>
              <a:buFont typeface="Arial"/>
              <a:buChar char="•"/>
            </a:pPr>
            <a:r>
              <a:rPr lang="en-US" sz="183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Every action (registration, purchase, royalty payment) linked to a </a:t>
            </a:r>
            <a:r>
              <a:rPr lang="en-US" b="true" sz="183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unique transaction hash</a:t>
            </a:r>
            <a:r>
              <a:rPr lang="en-US" sz="183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  <a:p>
            <a:pPr algn="l" marL="396606" indent="-198303" lvl="1">
              <a:lnSpc>
                <a:spcPts val="3986"/>
              </a:lnSpc>
              <a:buFont typeface="Arial"/>
              <a:buChar char="•"/>
            </a:pPr>
            <a:r>
              <a:rPr lang="en-US" sz="183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Enables a </a:t>
            </a:r>
            <a:r>
              <a:rPr lang="en-US" b="true" sz="183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transpa</a:t>
            </a:r>
            <a:r>
              <a:rPr lang="en-US" b="true" sz="183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rent </a:t>
            </a:r>
            <a:r>
              <a:rPr lang="en-US" b="true" sz="183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chain of custody</a:t>
            </a:r>
            <a:r>
              <a:rPr lang="en-US" sz="183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: who did what, when, and how much was paid.</a:t>
            </a:r>
          </a:p>
          <a:p>
            <a:pPr algn="l" marL="396606" indent="-198303" lvl="1">
              <a:lnSpc>
                <a:spcPts val="3986"/>
              </a:lnSpc>
              <a:buFont typeface="Arial"/>
              <a:buChar char="•"/>
            </a:pPr>
            <a:r>
              <a:rPr lang="en-US" sz="183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Supports </a:t>
            </a:r>
            <a:r>
              <a:rPr lang="en-US" b="true" sz="183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real-time verification</a:t>
            </a:r>
            <a:r>
              <a:rPr lang="en-US" sz="183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and auditing in</a:t>
            </a:r>
            <a:r>
              <a:rPr lang="en-US" sz="183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83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compliance with </a:t>
            </a:r>
            <a:r>
              <a:rPr lang="en-US" b="true" sz="183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ISO 27001</a:t>
            </a:r>
            <a:r>
              <a:rPr lang="en-US" sz="183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and </a:t>
            </a:r>
            <a:r>
              <a:rPr lang="en-US" b="true" sz="183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GDPR</a:t>
            </a:r>
            <a:r>
              <a:rPr lang="en-US" sz="183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</a:p>
          <a:p>
            <a:pPr algn="l">
              <a:lnSpc>
                <a:spcPts val="3986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388355" y="5648382"/>
            <a:ext cx="7629030" cy="427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5"/>
              </a:lnSpc>
              <a:spcBef>
                <a:spcPct val="0"/>
              </a:spcBef>
            </a:pPr>
            <a:r>
              <a:rPr lang="en-US" b="true" sz="256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5. Consensus and Security Mechanisms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880612" y="6180273"/>
            <a:ext cx="11672128" cy="3981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9956" indent="-199978" lvl="1">
              <a:lnSpc>
                <a:spcPts val="4019"/>
              </a:lnSpc>
              <a:buFont typeface="Arial"/>
              <a:buChar char="•"/>
            </a:pPr>
            <a:r>
              <a:rPr lang="en-US" sz="185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Uses </a:t>
            </a:r>
            <a:r>
              <a:rPr lang="en-US" b="true" sz="1852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Practical Byzantine Fault Tolerance (PBFT)</a:t>
            </a:r>
            <a:r>
              <a:rPr lang="en-US" sz="185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for fast, energy-efficient validation </a:t>
            </a:r>
          </a:p>
          <a:p>
            <a:pPr algn="l" marL="399956" indent="-199978" lvl="1">
              <a:lnSpc>
                <a:spcPts val="4019"/>
              </a:lnSpc>
              <a:buFont typeface="Arial"/>
              <a:buChar char="•"/>
            </a:pPr>
            <a:r>
              <a:rPr lang="en-US" b="true" sz="1852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Public/private key encryption</a:t>
            </a:r>
            <a:r>
              <a:rPr lang="en-US" sz="185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secures auth</a:t>
            </a:r>
            <a:r>
              <a:rPr lang="en-US" sz="185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enti</a:t>
            </a:r>
            <a:r>
              <a:rPr lang="en-US" sz="185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cation and access control.</a:t>
            </a:r>
          </a:p>
          <a:p>
            <a:pPr algn="l" marL="399956" indent="-199978" lvl="1">
              <a:lnSpc>
                <a:spcPts val="4019"/>
              </a:lnSpc>
              <a:buFont typeface="Arial"/>
              <a:buChar char="•"/>
            </a:pPr>
            <a:r>
              <a:rPr lang="en-US" b="true" sz="1852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Tamper-proof storage</a:t>
            </a:r>
            <a:r>
              <a:rPr lang="en-US" sz="185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: hashed data permanently recorded on-chain.</a:t>
            </a:r>
          </a:p>
          <a:p>
            <a:pPr algn="l" marL="399956" indent="-199978" lvl="1">
              <a:lnSpc>
                <a:spcPts val="4019"/>
              </a:lnSpc>
              <a:buFont typeface="Arial"/>
              <a:buChar char="•"/>
            </a:pPr>
            <a:r>
              <a:rPr lang="en-US" b="true" sz="1852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No single </a:t>
            </a:r>
            <a:r>
              <a:rPr lang="en-US" b="true" sz="1852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point of failure</a:t>
            </a:r>
            <a:r>
              <a:rPr lang="en-US" sz="185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— decentralized nodes ensure continuity during outages or</a:t>
            </a:r>
            <a:r>
              <a:rPr lang="en-US" sz="185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85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cyberattacks.</a:t>
            </a:r>
          </a:p>
          <a:p>
            <a:pPr algn="l" marL="399956" indent="-199978" lvl="1">
              <a:lnSpc>
                <a:spcPts val="4019"/>
              </a:lnSpc>
              <a:buFont typeface="Arial"/>
              <a:buChar char="•"/>
            </a:pPr>
            <a:r>
              <a:rPr lang="en-US" sz="185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Improves system </a:t>
            </a:r>
            <a:r>
              <a:rPr lang="en-US" b="true" sz="1852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resilience, reliability, and security</a:t>
            </a:r>
            <a:r>
              <a:rPr lang="en-US" sz="185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</a:p>
          <a:p>
            <a:pPr algn="l">
              <a:lnSpc>
                <a:spcPts val="4019"/>
              </a:lnSpc>
            </a:pPr>
          </a:p>
          <a:p>
            <a:pPr algn="l">
              <a:lnSpc>
                <a:spcPts val="401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1033">
                <a:alpha val="100000"/>
              </a:srgbClr>
            </a:gs>
            <a:gs pos="100000">
              <a:srgbClr val="14399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7044231" y="1028700"/>
            <a:ext cx="215069" cy="166972"/>
          </a:xfrm>
          <a:custGeom>
            <a:avLst/>
            <a:gdLst/>
            <a:ahLst/>
            <a:cxnLst/>
            <a:rect r="r" b="b" t="t" l="l"/>
            <a:pathLst>
              <a:path h="166972" w="215069">
                <a:moveTo>
                  <a:pt x="0" y="0"/>
                </a:moveTo>
                <a:lnTo>
                  <a:pt x="215069" y="0"/>
                </a:lnTo>
                <a:lnTo>
                  <a:pt x="215069" y="166972"/>
                </a:lnTo>
                <a:lnTo>
                  <a:pt x="0" y="1669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56150" y="6794064"/>
            <a:ext cx="3003150" cy="2462583"/>
          </a:xfrm>
          <a:custGeom>
            <a:avLst/>
            <a:gdLst/>
            <a:ahLst/>
            <a:cxnLst/>
            <a:rect r="r" b="b" t="t" l="l"/>
            <a:pathLst>
              <a:path h="2462583" w="3003150">
                <a:moveTo>
                  <a:pt x="0" y="0"/>
                </a:moveTo>
                <a:lnTo>
                  <a:pt x="3003150" y="0"/>
                </a:lnTo>
                <a:lnTo>
                  <a:pt x="3003150" y="2462583"/>
                </a:lnTo>
                <a:lnTo>
                  <a:pt x="0" y="24625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381656" y="2288154"/>
            <a:ext cx="4877644" cy="3675358"/>
            <a:chOff x="0" y="0"/>
            <a:chExt cx="6503525" cy="4900478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6"/>
            <a:srcRect l="5790" t="0" r="5790" b="0"/>
            <a:stretch>
              <a:fillRect/>
            </a:stretch>
          </p:blipFill>
          <p:spPr>
            <a:xfrm flipH="false" flipV="false">
              <a:off x="0" y="0"/>
              <a:ext cx="6503525" cy="4900478"/>
            </a:xfrm>
            <a:prstGeom prst="rect">
              <a:avLst/>
            </a:prstGeom>
          </p:spPr>
        </p:pic>
      </p:grpSp>
      <p:sp>
        <p:nvSpPr>
          <p:cNvPr name="Freeform 6" id="6"/>
          <p:cNvSpPr/>
          <p:nvPr/>
        </p:nvSpPr>
        <p:spPr>
          <a:xfrm flipH="false" flipV="false" rot="0">
            <a:off x="12381656" y="8892355"/>
            <a:ext cx="365945" cy="365945"/>
          </a:xfrm>
          <a:custGeom>
            <a:avLst/>
            <a:gdLst/>
            <a:ahLst/>
            <a:cxnLst/>
            <a:rect r="r" b="b" t="t" l="l"/>
            <a:pathLst>
              <a:path h="365945" w="365945">
                <a:moveTo>
                  <a:pt x="0" y="0"/>
                </a:moveTo>
                <a:lnTo>
                  <a:pt x="365945" y="0"/>
                </a:lnTo>
                <a:lnTo>
                  <a:pt x="365945" y="365945"/>
                </a:lnTo>
                <a:lnTo>
                  <a:pt x="0" y="3659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1028700" y="3777843"/>
            <a:ext cx="9638872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028700" y="798465"/>
            <a:ext cx="9638872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028700" y="1363749"/>
            <a:ext cx="10132459" cy="185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9600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BLOCKCHAIN SOLUTION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46875" y="4296956"/>
            <a:ext cx="7629030" cy="427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5"/>
              </a:lnSpc>
              <a:spcBef>
                <a:spcPct val="0"/>
              </a:spcBef>
            </a:pPr>
            <a:r>
              <a:rPr lang="en-US" b="true" sz="256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6. Governance and Compliance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9075" y="4962525"/>
            <a:ext cx="12151207" cy="4280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7488" indent="-213744" lvl="1">
              <a:lnSpc>
                <a:spcPts val="4296"/>
              </a:lnSpc>
              <a:buFont typeface="Arial"/>
              <a:buChar char="•"/>
            </a:pPr>
            <a:r>
              <a:rPr lang="en-US" sz="19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Assigns </a:t>
            </a:r>
            <a:r>
              <a:rPr lang="en-US" b="true" sz="198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Digital Identity (DID)</a:t>
            </a:r>
            <a:r>
              <a:rPr lang="en-US" sz="19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to all participants with </a:t>
            </a:r>
            <a:r>
              <a:rPr lang="en-US" b="true" sz="198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Role-Based Access Control (RBAC)</a:t>
            </a:r>
            <a:r>
              <a:rPr lang="en-US" sz="19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</a:p>
          <a:p>
            <a:pPr algn="l" marL="427488" indent="-213744" lvl="1">
              <a:lnSpc>
                <a:spcPts val="4296"/>
              </a:lnSpc>
              <a:buFont typeface="Arial"/>
              <a:buChar char="•"/>
            </a:pPr>
            <a:r>
              <a:rPr lang="en-US" sz="19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Author: manages copyright and ownership records.</a:t>
            </a:r>
          </a:p>
          <a:p>
            <a:pPr algn="l" marL="427488" indent="-213744" lvl="1">
              <a:lnSpc>
                <a:spcPts val="4296"/>
              </a:lnSpc>
              <a:buFont typeface="Arial"/>
              <a:buChar char="•"/>
            </a:pPr>
            <a:r>
              <a:rPr lang="en-US" sz="19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Publisher: validates content and manages rights.</a:t>
            </a:r>
          </a:p>
          <a:p>
            <a:pPr algn="l" marL="427488" indent="-213744" lvl="1">
              <a:lnSpc>
                <a:spcPts val="4296"/>
              </a:lnSpc>
              <a:buFont typeface="Arial"/>
              <a:buChar char="•"/>
            </a:pPr>
            <a:r>
              <a:rPr lang="en-US" sz="19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Lib</a:t>
            </a:r>
            <a:r>
              <a:rPr lang="en-US" sz="19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rary: ov</a:t>
            </a:r>
            <a:r>
              <a:rPr lang="en-US" sz="19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ersees </a:t>
            </a:r>
            <a:r>
              <a:rPr lang="en-US" sz="19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transactions and audits.</a:t>
            </a:r>
          </a:p>
          <a:p>
            <a:pPr algn="l" marL="427488" indent="-213744" lvl="1">
              <a:lnSpc>
                <a:spcPts val="4296"/>
              </a:lnSpc>
              <a:buFont typeface="Arial"/>
              <a:buChar char="•"/>
            </a:pPr>
            <a:r>
              <a:rPr lang="en-US" sz="19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Smart contracts enforce </a:t>
            </a:r>
            <a:r>
              <a:rPr lang="en-US" b="true" sz="198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automated governance</a:t>
            </a:r>
            <a:r>
              <a:rPr lang="en-US" sz="19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and reduce human interference.</a:t>
            </a:r>
          </a:p>
          <a:p>
            <a:pPr algn="l" marL="427488" indent="-213744" lvl="1">
              <a:lnSpc>
                <a:spcPts val="4296"/>
              </a:lnSpc>
              <a:buFont typeface="Arial"/>
              <a:buChar char="•"/>
            </a:pPr>
            <a:r>
              <a:rPr lang="en-US" sz="19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Complies with </a:t>
            </a:r>
            <a:r>
              <a:rPr lang="en-US" b="true" sz="198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GDPR, ISO/IEC</a:t>
            </a:r>
            <a:r>
              <a:rPr lang="en-US" b="true" sz="198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27001,</a:t>
            </a:r>
            <a:r>
              <a:rPr lang="en-US" sz="19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and </a:t>
            </a:r>
            <a:r>
              <a:rPr lang="en-US" b="true" sz="198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Privacy Act 1988</a:t>
            </a:r>
            <a:r>
              <a:rPr lang="en-US" sz="19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  <a:p>
            <a:pPr algn="l" marL="427488" indent="-213744" lvl="1">
              <a:lnSpc>
                <a:spcPts val="4296"/>
              </a:lnSpc>
              <a:buFont typeface="Arial"/>
              <a:buChar char="•"/>
            </a:pPr>
            <a:r>
              <a:rPr lang="en-US" sz="19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Ensures t</a:t>
            </a:r>
            <a:r>
              <a:rPr lang="en-US" b="true" sz="198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ransparency, accountability, and confidentiality</a:t>
            </a:r>
            <a:r>
              <a:rPr lang="en-US" sz="19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through permanent on-chain records</a:t>
            </a:r>
          </a:p>
          <a:p>
            <a:pPr algn="l">
              <a:lnSpc>
                <a:spcPts val="4296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1033">
                <a:alpha val="100000"/>
              </a:srgbClr>
            </a:gs>
            <a:gs pos="100000">
              <a:srgbClr val="14399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4350" y="645454"/>
            <a:ext cx="269865" cy="233065"/>
          </a:xfrm>
          <a:custGeom>
            <a:avLst/>
            <a:gdLst/>
            <a:ahLst/>
            <a:cxnLst/>
            <a:rect r="r" b="b" t="t" l="l"/>
            <a:pathLst>
              <a:path h="233065" w="269865">
                <a:moveTo>
                  <a:pt x="0" y="0"/>
                </a:moveTo>
                <a:lnTo>
                  <a:pt x="269865" y="0"/>
                </a:lnTo>
                <a:lnTo>
                  <a:pt x="269865" y="233065"/>
                </a:lnTo>
                <a:lnTo>
                  <a:pt x="0" y="2330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7044231" y="1028700"/>
            <a:ext cx="215069" cy="166972"/>
          </a:xfrm>
          <a:custGeom>
            <a:avLst/>
            <a:gdLst/>
            <a:ahLst/>
            <a:cxnLst/>
            <a:rect r="r" b="b" t="t" l="l"/>
            <a:pathLst>
              <a:path h="166972" w="215069">
                <a:moveTo>
                  <a:pt x="0" y="0"/>
                </a:moveTo>
                <a:lnTo>
                  <a:pt x="215069" y="0"/>
                </a:lnTo>
                <a:lnTo>
                  <a:pt x="215069" y="166972"/>
                </a:lnTo>
                <a:lnTo>
                  <a:pt x="0" y="1669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-10800000">
            <a:off x="17044231" y="9091328"/>
            <a:ext cx="215069" cy="166972"/>
          </a:xfrm>
          <a:custGeom>
            <a:avLst/>
            <a:gdLst/>
            <a:ahLst/>
            <a:cxnLst/>
            <a:rect r="r" b="b" t="t" l="l"/>
            <a:pathLst>
              <a:path h="166972" w="215069">
                <a:moveTo>
                  <a:pt x="0" y="166972"/>
                </a:moveTo>
                <a:lnTo>
                  <a:pt x="215069" y="166972"/>
                </a:lnTo>
                <a:lnTo>
                  <a:pt x="215069" y="0"/>
                </a:lnTo>
                <a:lnTo>
                  <a:pt x="0" y="0"/>
                </a:lnTo>
                <a:lnTo>
                  <a:pt x="0" y="16697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1975411"/>
            <a:ext cx="7781725" cy="8311589"/>
          </a:xfrm>
          <a:custGeom>
            <a:avLst/>
            <a:gdLst/>
            <a:ahLst/>
            <a:cxnLst/>
            <a:rect r="r" b="b" t="t" l="l"/>
            <a:pathLst>
              <a:path h="8311589" w="7781725">
                <a:moveTo>
                  <a:pt x="0" y="0"/>
                </a:moveTo>
                <a:lnTo>
                  <a:pt x="7781725" y="0"/>
                </a:lnTo>
                <a:lnTo>
                  <a:pt x="7781725" y="8311589"/>
                </a:lnTo>
                <a:lnTo>
                  <a:pt x="0" y="83115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84215" y="616879"/>
            <a:ext cx="153684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BUSA3007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87103"/>
            <a:ext cx="16558293" cy="1463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7600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BLOCKCHAIN E-LIBRARY WORKFLOW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1033">
                <a:alpha val="100000"/>
              </a:srgbClr>
            </a:gs>
            <a:gs pos="100000">
              <a:srgbClr val="14399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7044231" y="1028700"/>
            <a:ext cx="215069" cy="166972"/>
          </a:xfrm>
          <a:custGeom>
            <a:avLst/>
            <a:gdLst/>
            <a:ahLst/>
            <a:cxnLst/>
            <a:rect r="r" b="b" t="t" l="l"/>
            <a:pathLst>
              <a:path h="166972" w="215069">
                <a:moveTo>
                  <a:pt x="0" y="0"/>
                </a:moveTo>
                <a:lnTo>
                  <a:pt x="215069" y="0"/>
                </a:lnTo>
                <a:lnTo>
                  <a:pt x="215069" y="166972"/>
                </a:lnTo>
                <a:lnTo>
                  <a:pt x="0" y="1669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024699" y="2112920"/>
            <a:ext cx="16230600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true" flipV="false" rot="-10800000">
            <a:off x="1024699" y="1028700"/>
            <a:ext cx="215069" cy="166972"/>
          </a:xfrm>
          <a:custGeom>
            <a:avLst/>
            <a:gdLst/>
            <a:ahLst/>
            <a:cxnLst/>
            <a:rect r="r" b="b" t="t" l="l"/>
            <a:pathLst>
              <a:path h="166972" w="215069">
                <a:moveTo>
                  <a:pt x="215070" y="0"/>
                </a:moveTo>
                <a:lnTo>
                  <a:pt x="0" y="0"/>
                </a:lnTo>
                <a:lnTo>
                  <a:pt x="0" y="166972"/>
                </a:lnTo>
                <a:lnTo>
                  <a:pt x="215070" y="166972"/>
                </a:lnTo>
                <a:lnTo>
                  <a:pt x="21507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4699" y="8850355"/>
            <a:ext cx="1206288" cy="407945"/>
          </a:xfrm>
          <a:custGeom>
            <a:avLst/>
            <a:gdLst/>
            <a:ahLst/>
            <a:cxnLst/>
            <a:rect r="r" b="b" t="t" l="l"/>
            <a:pathLst>
              <a:path h="407945" w="1206288">
                <a:moveTo>
                  <a:pt x="0" y="0"/>
                </a:moveTo>
                <a:lnTo>
                  <a:pt x="1206289" y="0"/>
                </a:lnTo>
                <a:lnTo>
                  <a:pt x="1206289" y="407945"/>
                </a:lnTo>
                <a:lnTo>
                  <a:pt x="0" y="407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5550" y="2493924"/>
            <a:ext cx="10457588" cy="5980191"/>
          </a:xfrm>
          <a:custGeom>
            <a:avLst/>
            <a:gdLst/>
            <a:ahLst/>
            <a:cxnLst/>
            <a:rect r="r" b="b" t="t" l="l"/>
            <a:pathLst>
              <a:path h="5980191" w="10457588">
                <a:moveTo>
                  <a:pt x="0" y="0"/>
                </a:moveTo>
                <a:lnTo>
                  <a:pt x="10457588" y="0"/>
                </a:lnTo>
                <a:lnTo>
                  <a:pt x="10457588" y="5980190"/>
                </a:lnTo>
                <a:lnTo>
                  <a:pt x="0" y="59801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588806" y="696261"/>
            <a:ext cx="13106388" cy="1089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5599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SMART CONTRACT PROTOTYPE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03138" y="2667834"/>
            <a:ext cx="7401199" cy="5565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1178" indent="-175589" lvl="1">
              <a:lnSpc>
                <a:spcPts val="2602"/>
              </a:lnSpc>
              <a:buAutoNum type="arabicPeriod" startAt="1"/>
            </a:pPr>
            <a:r>
              <a:rPr lang="en-US" b="true" sz="162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Programming Language</a:t>
            </a:r>
            <a:r>
              <a:rPr lang="en-US" sz="162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: </a:t>
            </a:r>
            <a:r>
              <a:rPr lang="en-US" sz="162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Solidity </a:t>
            </a:r>
            <a:r>
              <a:rPr lang="en-US" sz="162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on the Ethereum blockchain.</a:t>
            </a:r>
          </a:p>
          <a:p>
            <a:pPr algn="l" marL="351178" indent="-175589" lvl="1">
              <a:lnSpc>
                <a:spcPts val="2602"/>
              </a:lnSpc>
              <a:buAutoNum type="arabicPeriod" startAt="1"/>
            </a:pPr>
            <a:r>
              <a:rPr lang="en-US" b="true" sz="162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Development Framework:</a:t>
            </a:r>
          </a:p>
          <a:p>
            <a:pPr algn="l" marL="351178" indent="-175589" lvl="1">
              <a:lnSpc>
                <a:spcPts val="3155"/>
              </a:lnSpc>
              <a:buFont typeface="Arial"/>
              <a:buChar char="•"/>
            </a:pPr>
            <a:r>
              <a:rPr lang="en-US" b="true" sz="162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Hardhat:</a:t>
            </a:r>
            <a:r>
              <a:rPr lang="en-US" sz="162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framework for compiling, testing, deploying smart contracts.</a:t>
            </a:r>
          </a:p>
          <a:p>
            <a:pPr algn="l" marL="351178" indent="-175589" lvl="1">
              <a:lnSpc>
                <a:spcPts val="2602"/>
              </a:lnSpc>
              <a:buFont typeface="Arial"/>
              <a:buChar char="•"/>
            </a:pPr>
            <a:r>
              <a:rPr lang="en-US" b="true" sz="162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Hardhat Ignition</a:t>
            </a:r>
            <a:r>
              <a:rPr lang="en-US" sz="162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manages deployment, upgrades, and script tracking.</a:t>
            </a:r>
          </a:p>
          <a:p>
            <a:pPr algn="l" marL="351178" indent="-175589" lvl="1">
              <a:lnSpc>
                <a:spcPts val="2602"/>
              </a:lnSpc>
              <a:buAutoNum type="arabicPeriod" startAt="1"/>
            </a:pPr>
            <a:r>
              <a:rPr lang="en-US" b="true" sz="162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Blockchain Interaction</a:t>
            </a:r>
            <a:r>
              <a:rPr lang="en-US" sz="162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: </a:t>
            </a:r>
            <a:r>
              <a:rPr lang="en-US" sz="162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Ethers.js library enables communication between the web interface and the Ethereum blockchain.</a:t>
            </a:r>
          </a:p>
          <a:p>
            <a:pPr algn="l" marL="351178" indent="-175589" lvl="1">
              <a:lnSpc>
                <a:spcPts val="2602"/>
              </a:lnSpc>
              <a:buAutoNum type="arabicPeriod" startAt="1"/>
            </a:pPr>
            <a:r>
              <a:rPr lang="en-US" b="true" sz="162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Key Smart Contract Functions:</a:t>
            </a:r>
          </a:p>
          <a:p>
            <a:pPr algn="l" marL="351178" indent="-175589" lvl="1">
              <a:lnSpc>
                <a:spcPts val="2602"/>
              </a:lnSpc>
              <a:buFont typeface="Arial"/>
              <a:buChar char="•"/>
            </a:pPr>
            <a:r>
              <a:rPr lang="en-US" sz="162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registerWork() – Registers a new digital book on the blockchain.</a:t>
            </a:r>
          </a:p>
          <a:p>
            <a:pPr algn="l" marL="351178" indent="-175589" lvl="1">
              <a:lnSpc>
                <a:spcPts val="2602"/>
              </a:lnSpc>
              <a:buFont typeface="Arial"/>
              <a:buChar char="•"/>
            </a:pPr>
            <a:r>
              <a:rPr lang="en-US" sz="162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purchase() – Allows buying registered e-books via one-time payment.</a:t>
            </a:r>
          </a:p>
          <a:p>
            <a:pPr algn="l" marL="351178" indent="-175589" lvl="1">
              <a:lnSpc>
                <a:spcPts val="2602"/>
              </a:lnSpc>
              <a:buFont typeface="Arial"/>
              <a:buChar char="•"/>
            </a:pPr>
            <a:r>
              <a:rPr lang="en-US" sz="162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canAccess() – Verifies whether a user already owns or has purchased a specific e-book.</a:t>
            </a:r>
          </a:p>
          <a:p>
            <a:pPr algn="l" marL="351178" indent="-175589" lvl="1">
              <a:lnSpc>
                <a:spcPts val="2602"/>
              </a:lnSpc>
              <a:buAutoNum type="arabicPeriod" startAt="1"/>
            </a:pPr>
            <a:r>
              <a:rPr lang="en-US" b="true" sz="162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User Interaction Flow:</a:t>
            </a:r>
          </a:p>
          <a:p>
            <a:pPr algn="l" marL="351178" indent="-175589" lvl="1">
              <a:lnSpc>
                <a:spcPts val="2602"/>
              </a:lnSpc>
              <a:buFont typeface="Arial"/>
              <a:buChar char="•"/>
            </a:pPr>
            <a:r>
              <a:rPr lang="en-US" sz="162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Users interact through a web interface to send transaction requests to the smart contract.</a:t>
            </a:r>
          </a:p>
          <a:p>
            <a:pPr algn="l" marL="351178" indent="-175589" lvl="1">
              <a:lnSpc>
                <a:spcPts val="2602"/>
              </a:lnSpc>
              <a:buFont typeface="Arial"/>
              <a:buChar char="•"/>
            </a:pPr>
            <a:r>
              <a:rPr lang="en-US" sz="162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The transaction records are permanently stored on the blockchain, ensuring transparency, immutability, and trust in the system.</a:t>
            </a:r>
          </a:p>
          <a:p>
            <a:pPr algn="l">
              <a:lnSpc>
                <a:spcPts val="2602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1033">
                <a:alpha val="100000"/>
              </a:srgbClr>
            </a:gs>
            <a:gs pos="100000">
              <a:srgbClr val="14399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1755" y="7695655"/>
            <a:ext cx="18631511" cy="4192090"/>
          </a:xfrm>
          <a:custGeom>
            <a:avLst/>
            <a:gdLst/>
            <a:ahLst/>
            <a:cxnLst/>
            <a:rect r="r" b="b" t="t" l="l"/>
            <a:pathLst>
              <a:path h="4192090" w="18631511">
                <a:moveTo>
                  <a:pt x="0" y="0"/>
                </a:moveTo>
                <a:lnTo>
                  <a:pt x="18631510" y="0"/>
                </a:lnTo>
                <a:lnTo>
                  <a:pt x="18631510" y="4192090"/>
                </a:lnTo>
                <a:lnTo>
                  <a:pt x="0" y="41920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095960" y="8892355"/>
            <a:ext cx="365945" cy="365945"/>
          </a:xfrm>
          <a:custGeom>
            <a:avLst/>
            <a:gdLst/>
            <a:ahLst/>
            <a:cxnLst/>
            <a:rect r="r" b="b" t="t" l="l"/>
            <a:pathLst>
              <a:path h="365945" w="365945">
                <a:moveTo>
                  <a:pt x="0" y="0"/>
                </a:moveTo>
                <a:lnTo>
                  <a:pt x="365945" y="0"/>
                </a:lnTo>
                <a:lnTo>
                  <a:pt x="365945" y="365945"/>
                </a:lnTo>
                <a:lnTo>
                  <a:pt x="0" y="3659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3833139"/>
            <a:ext cx="332473" cy="332473"/>
          </a:xfrm>
          <a:custGeom>
            <a:avLst/>
            <a:gdLst/>
            <a:ahLst/>
            <a:cxnLst/>
            <a:rect r="r" b="b" t="t" l="l"/>
            <a:pathLst>
              <a:path h="332473" w="332473">
                <a:moveTo>
                  <a:pt x="0" y="0"/>
                </a:moveTo>
                <a:lnTo>
                  <a:pt x="332473" y="0"/>
                </a:lnTo>
                <a:lnTo>
                  <a:pt x="332473" y="332473"/>
                </a:lnTo>
                <a:lnTo>
                  <a:pt x="0" y="3324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926827" y="3833139"/>
            <a:ext cx="332473" cy="332473"/>
          </a:xfrm>
          <a:custGeom>
            <a:avLst/>
            <a:gdLst/>
            <a:ahLst/>
            <a:cxnLst/>
            <a:rect r="r" b="b" t="t" l="l"/>
            <a:pathLst>
              <a:path h="332473" w="332473">
                <a:moveTo>
                  <a:pt x="332473" y="0"/>
                </a:moveTo>
                <a:lnTo>
                  <a:pt x="0" y="0"/>
                </a:lnTo>
                <a:lnTo>
                  <a:pt x="0" y="332473"/>
                </a:lnTo>
                <a:lnTo>
                  <a:pt x="332473" y="332473"/>
                </a:lnTo>
                <a:lnTo>
                  <a:pt x="332473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65578" y="3492022"/>
            <a:ext cx="13756844" cy="1463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44"/>
              </a:lnSpc>
            </a:pPr>
            <a:r>
              <a:rPr lang="en-US" sz="14757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THANK YOU</a:t>
            </a:r>
          </a:p>
        </p:txBody>
      </p:sp>
      <p:sp>
        <p:nvSpPr>
          <p:cNvPr name="AutoShape 7" id="7"/>
          <p:cNvSpPr/>
          <p:nvPr/>
        </p:nvSpPr>
        <p:spPr>
          <a:xfrm flipV="true">
            <a:off x="1028700" y="5148262"/>
            <a:ext cx="16230600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980660" y="3056851"/>
            <a:ext cx="16230600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DAG2G3LCRWY</dc:identifier>
  <dcterms:modified xsi:type="dcterms:W3CDTF">2011-08-01T06:04:30Z</dcterms:modified>
  <cp:revision>1</cp:revision>
  <dc:title>BUSA3007</dc:title>
</cp:coreProperties>
</file>